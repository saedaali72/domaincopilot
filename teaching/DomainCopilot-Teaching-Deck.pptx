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بيكم، النهاردة هنتكلم عن حاجة اسمها Multi-Agent Orchestration — يعني إزاي نخلي كذا AI 'موظف' صغير يشتغلوا مع بعض بدل ما يكون عندنا موظف واحد بيحاول يعمل كل حاجة. هنشرح الفكرة من خلال مشروع حقيقي بنيته، مش مجرد نظرية.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لو جربنا نعمل prompt واحد ضخم يسأل الـ LLM كل الحاجات دي مرة واحدة، هيحصل حاجتين سيئتين: الأول، صعب نتأكد أنهي جزء من الرد جه من أنهي معلومة (يعني صعب نـ 'debug'). التاني، صعب نختبره — إزاي هتتأكدي إن جزء الأهلية صح لوحده من غير ما يتأثر بجزء الصياغة؟ الحل: نقسم المهمة الكبيرة دي لـ 3 مهام صغيرة، كل واحدة عندها 'موظف' مختص بيها بس.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تخيلوا مستشفى فيها موظف استقبال، وممرضة، ودكتور. الفرق بينهم مش إنهم بيعملوا حاجات مختلفة بس — الفرق إن كل واحد مسؤوليته محدودة ومعروفة. موظف الاستقبال بياخد بياناتك، مش بيشخصك. الممرضة بتاخد ضغطك، مش بتوصف علاج. لو خلطنا الأدوار، هتحصل كارثة. الـ Agent بنفس المنطق: مسؤولية واحدة محددة، وأدوات محدودة تناسبها بس. الـ Eligibility Agent بتاعنا مثلاً معندوش صلاحية 'يصيغ' رد نهائي — ده مش شغله.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تخيلوا طلبتوا توصيلة من صاحبكم، وقالكوا 'هوصلك بعد شوية'. 'شوية' دي غامضة — نص دقيقة؟ ساعة؟ لكن لو قال 'هوصلك الساعة 5:30'، دي معلومة دقيقة تقدروا تخططوا عليها. الـ Typed Contract هو 'الساعة 5:30' مش 'شوية' — بيانات دقيقة ومحددة الشكل، مش كلام عام ممكن يتفهم غلط. في الكود، ده معناه إننا بنستخدم C# record زي EligibilityResult، مش string عادي.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دول الـ 3 موظفين بتوعنا. لاحظوا إن كل واحد فيهم بياخد مدخل مختلف تمامًا، وبيرجع مخرج مختلف تمامًا. الأول بيسأل 'هل مؤهل؟'، التاني بيسأل 'إيه المطلوب؟'، والتالت مش بيسأل حاجة أصلاً — هو بس بيجمع نتايج الاتنين اللي فاتوا ويصيغهم في خطاب.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 أهم نقطة تقنية في المحاضرة كلها. لاحظوا إن الـ Agent ده بيعمل بالظبط نفس خطوات أي نظام RAG عادي — بيحول السؤال لأرقام، بيدور، بيجيب النص. الفرق الوحيد هو الخطوة الرابعة: إحنا بنجبر الـ LLM يرد بشكل ثابت جدًا، وبعدين بنـ parse الرد ده لكائن C# حقيقي. يعني أي حد يقولكوا الـ Agents معقدة جدًا، قولوله: لأ، هي RAG عادي + شوية Prompt Engineering ذكي.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لو رجعنا لمثال المستشفى — مفيش موظف استقبال بيكلم الدكتور مباشرة. فيه نظام (ورقة المريض، أو ممرضة تنسيق) بتنقل المعلومة بالترتيب الصح. الـ Orchestrator بتاعنا هو بالظبط كده — الـ 3 Agents متعرفش ببعض خالص، الـ Orchestrator بس هو اللي يعرف الترتيب. ولاحظوا نقطة مهمة: لو الأهلية قالت محتاج تصعيد، إحنا بنوقف فورًا — مش بنكمل نسأل عن المستندات لطلب أصلاً مش هيتقبل.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نقطة مهمة للمهندسين المبتدئين: مش كل مشكلة محتاجة أعقد حل. فيه نمط اسمه Supervisor فيه LLM بيقرر مين يشتغل بعد مين ديناميكيًا. جربنا نفكر فيه، ورفضناه — لأن الـ workflow بتاعنا ثابت ومعروف من الأول: الأهلية دايمًا الأول. لو استخدمنا supervisor، كنا هنضيف تكلفة وتعقيد من غير أي فايدة حقيقية. ده قرار موثق في ADR-003 بتاعتنا.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هنا أهم قرار أمني في المشروع كله. لو فكرتوا في أي نظام AI بيتخذ قرارات مهمة، السؤال الأول لازم يكون: مين المسؤول لو النظام غلط؟ في نظامنا، الإجابة واضحة: مفيش أي طريقة في الكود تخلي الـ AI يبعت رد نهائي من غير ما إنسان يوافق عليه الأول. لاحظوا السطر ده تحديدًا: method اسمها AttachDraftedResponse بتحط الحالة AwaitingApproval دايمًا، مش Approved. يعني مش سياسة أو تعليمات — ده مبني في بنية الكود نفسها، فمستحيل ننساه أو نتجاهله بالغلط.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مهم جدًا نلاحظ حاجة هنا: الموظف مش بس بيشوف النص النهائي اللي هيتبعت للمواطن. هو كمان بيشوف ليه النظام قرر كده، وإيه المستندات المطلوبة. ليه ده مهم؟ لأن لو الموظف شاف بس النص النهائي، هيوافق على الأعمى — يعني بيثق في الـ AI من غير ما يقدر يراجعه فعليًا. لو شاف السبب والدليل، يقدر يسأل نفسه: المنطق ده معقول؟ فعلاً كده اللائحة بتقول؟ — وده أساس الـ Groundedness والـ Audit Trail اللي المشروع كله مبني عليه.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عالم أمن الـ AI، فيه مصطلح مهم اسمه Excessive Agency — يعني إدينا نظام AI صلاحيات أكتر من اللازم. تخيلوا لو الـ Response Drafter Agent بتاعنا كان عنده صلاحية يبعت الرد مباشرة بالإيميل للمواطن، من غير مراجعة — لو حصل خطأ في اللائحة، أو الـ LLM اتخيل معلومة غلط، المواطن هياخد قرار رسمي غلط، ومحدش هيعرف إلا بعد الضرر. عشان كده، الـ Approval Gate مش بس خطوة workflow، هي ضابط أمني حقيقي بيمنع بالتحديد النوع ده من المخاطر.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لاحظوا حاجة صغيرة بس مهمة جدًا في توقيع الـ methods بتاعت الـ Agents — كلهم بياخدوا tenantId كـ parameter إجباري. يعني لو عندنا وزارة الإسكان ومصلحة الضرائب بيستخدموا نفس النظام، الـ Eligibility Agent بتاع وزارة الإسكان مستحيل فيزيائيًا يجيب معلومة من لوائح مصلحة الضرائب — مش لأن حد كتب كود يمنعه، لكن لأن الفلترة مبنية في قاعدة البيانات نفسها. ده الفرق بين نظام بيحاول يكون آمن ونظام آمن ببنيته الأساسية.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عايزة أشارككم حاجة حصلت فعليًا وأنا بنيت المشروع ده، مش نظرية. حاولت أشغل اختبار تقييم شامل، والنظام كان بيفشل باستمرار برسالة طلبات كتير أوي. اكتشفت إن الحساب المجاني عند جوجل بيسمح بعشرين طلب بس في فترة زمنية قصيرة. بدل ما أعتبرها مشكلة معطلة، حولتها لفرصة: بنيت آلية إعادة محاولة بتأخير متزايد. الجميل في الموضوع إن الحل ده مطلوب أصلاً في متطلبات الهندسة، فحولت قيد حقيقي لتحسين مطلوب فعليًا.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 خلاصة أهم 4 قرارات معمارية اتخدناها، وكل واحدة فيهم موثقة في مستند منفصل اسمه ADR. ليه ده مهم؟ لأن أي مهندس هيسألكم يومًا ليه اخترتوا كذا، والإجابة الاحترافية مش حسيت إنه أسهل — الإجابة هي موثق في ADR-002، وده كان البديل اللي رفضناه، وده السبب. التوثيق ده مش بيروقراطية زيادة، هو اللي بيفرق بين قرار واعي ومجرد تخمين.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لو عايزين تاخدوا حاجة واحدة بس من المحاضرة دي، خدوا الأربع نقط دول. الأهم فيهم في رأيي هي التالتة: القيود الحقيقية مش مصيبة، هي فرصة تكتشفوا فيها إن أنتوا بتهندسوا صح ولا لأ. وأنصحكم دايمًا: وثّقوا قراراتكم وأنتوا بتاخدوها، مش بعد أسابيع لما تنسوا ليه أصلاً اخترتوا كده.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دلوقتي هدّيكم تمرين عملي على نفس النمط اللي شرحناه. عايزين نضيف Agent رابع اسمه مستشار التظلمات — بياخد طلب مرفوض، ويرجع نصيحة: هل يقدر يتظلم؟ آخر ميعاد؟ إزاي؟ التمرين ده مصمم عمدًا يخليكم تطبقوا نفس النمط بالظبط اللي شفتوه في الـ 3 Agents التانيين — عشان تتأكدوا إنكم فهمتوا الـ Pattern نفسه، مش بس حفظتوا كود.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وهختم بالفكرة الأساسية اللي عايزاكم تاخدوها معاكم: نظام الـ Multi-Agent مش بس عن خلي الـ AI أقوى — هو عن خلي الـ AI قابل للمحاسبة. كل جزء ليه شغلانة واضحة، وعقد واضح، وحدود واضحة. ده الفرق بين نظام AI تقدروا تثقوا فيه وتصلحوه لما يغلط، ونظام صندوق أسود محدش فاهم بيعمل إيه بالظبط. شكرًا لكم، وأي أسئلة أنا جاهزة.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103120"/>
            <a:ext cx="10881360" cy="1463040"/>
          </a:xfrm>
          <a:prstGeom prst="rect">
            <a:avLst/>
          </a:prstGeom>
          <a:noFill/>
          <a:ln/>
        </p:spPr>
        <p:txBody>
          <a:bodyPr wrap="square" lIns="0" tIns="0" rIns="0" bIns="0" rtlCol="0" anchor="ctr"/>
          <a:lstStyle/>
          <a:p>
            <a:pPr indent="0" marL="0">
              <a:buNone/>
            </a:pPr>
            <a:r>
              <a:rPr lang="en-US" sz="4000" b="1" dirty="0">
                <a:solidFill>
                  <a:srgbClr val="14293D"/>
                </a:solidFill>
                <a:latin typeface="Calibri" pitchFamily="34" charset="0"/>
                <a:ea typeface="Calibri" pitchFamily="34" charset="-122"/>
                <a:cs typeface="Calibri" pitchFamily="34" charset="-120"/>
              </a:rPr>
              <a:t>Multi-Agent Orchestration in Practice</a:t>
            </a:r>
            <a:endParaRPr lang="en-US" sz="4000" dirty="0"/>
          </a:p>
        </p:txBody>
      </p:sp>
      <p:sp>
        <p:nvSpPr>
          <p:cNvPr id="3" name="Text 1"/>
          <p:cNvSpPr txBox="1"/>
          <p:nvPr/>
        </p:nvSpPr>
        <p:spPr>
          <a:xfrm>
            <a:off x="640080" y="3383280"/>
            <a:ext cx="10881360" cy="822960"/>
          </a:xfrm>
          <a:prstGeom prst="rect">
            <a:avLst/>
          </a:prstGeom>
          <a:noFill/>
          <a:ln/>
        </p:spPr>
        <p:txBody>
          <a:bodyPr wrap="square" lIns="0" tIns="0" rIns="0" bIns="0" rtlCol="0" anchor="ctr"/>
          <a:lstStyle/>
          <a:p>
            <a:pPr indent="0" marL="0">
              <a:buNone/>
            </a:pPr>
            <a:r>
              <a:rPr lang="en-US" sz="2000" dirty="0">
                <a:solidFill>
                  <a:srgbClr val="1F6F5C"/>
                </a:solidFill>
                <a:latin typeface="Calibri" pitchFamily="34" charset="0"/>
                <a:ea typeface="Calibri" pitchFamily="34" charset="-122"/>
                <a:cs typeface="Calibri" pitchFamily="34" charset="-120"/>
              </a:rPr>
              <a:t>Building a Government Services Copilot with Specialized AI Agents</a:t>
            </a:r>
            <a:endParaRPr lang="en-US" sz="2000" dirty="0"/>
          </a:p>
        </p:txBody>
      </p:sp>
      <p:sp>
        <p:nvSpPr>
          <p:cNvPr id="4" name="Text 2"/>
          <p:cNvSpPr txBox="1"/>
          <p:nvPr/>
        </p:nvSpPr>
        <p:spPr>
          <a:xfrm>
            <a:off x="640080" y="6035040"/>
            <a:ext cx="10881360" cy="457200"/>
          </a:xfrm>
          <a:prstGeom prst="rect">
            <a:avLst/>
          </a:prstGeom>
          <a:noFill/>
          <a:ln/>
        </p:spPr>
        <p:txBody>
          <a:bodyPr wrap="square" lIns="0" tIns="0" rIns="0" bIns="0" rtlCol="0" anchor="ctr"/>
          <a:lstStyle/>
          <a:p>
            <a:pPr indent="0" marL="0">
              <a:buNone/>
            </a:pPr>
            <a:r>
              <a:rPr lang="en-US" sz="1300" dirty="0">
                <a:solidFill>
                  <a:srgbClr val="6B7480"/>
                </a:solidFill>
                <a:latin typeface="Calibri" pitchFamily="34" charset="0"/>
                <a:ea typeface="Calibri" pitchFamily="34" charset="-122"/>
                <a:cs typeface="Calibri" pitchFamily="34" charset="-120"/>
              </a:rPr>
              <a:t>ITI Instructor Candidate  ·  Domain Copilot Project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2600" b="1" dirty="0">
                <a:solidFill>
                  <a:srgbClr val="14293D"/>
                </a:solidFill>
                <a:latin typeface="Calibri" pitchFamily="34" charset="0"/>
                <a:ea typeface="Calibri" pitchFamily="34" charset="-122"/>
                <a:cs typeface="Calibri" pitchFamily="34" charset="-120"/>
              </a:rPr>
              <a:t>The Problem: One LLM Call Isn't Enough</a:t>
            </a:r>
            <a:endParaRPr lang="en-US" sz="2600" dirty="0"/>
          </a:p>
        </p:txBody>
      </p:sp>
      <p:sp>
        <p:nvSpPr>
          <p:cNvPr id="3" name="Text 1"/>
          <p:cNvSpPr txBox="1"/>
          <p:nvPr/>
        </p:nvSpPr>
        <p:spPr>
          <a:xfrm>
            <a:off x="548640" y="1371600"/>
            <a:ext cx="11064240" cy="50292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A citizen asks: "Am I eligible for housing support, and what do I need to submit?"</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This requires THREE distinct decisions:</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1. Am I eligible? (policy lookup + reasoning)</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2. What documents/timeline/fees apply? (different domain)</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3. How do I phrase an official response? (different skill)</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One giant prompt trying to do all three → unreliable, unauditable, hard to test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2600" b="1" dirty="0">
                <a:solidFill>
                  <a:srgbClr val="14293D"/>
                </a:solidFill>
                <a:latin typeface="Calibri" pitchFamily="34" charset="0"/>
                <a:ea typeface="Calibri" pitchFamily="34" charset="-122"/>
                <a:cs typeface="Calibri" pitchFamily="34" charset="-120"/>
              </a:rPr>
              <a:t>What Makes Something an "Agent"?</a:t>
            </a:r>
            <a:endParaRPr lang="en-US" sz="2600" dirty="0"/>
          </a:p>
        </p:txBody>
      </p:sp>
      <p:sp>
        <p:nvSpPr>
          <p:cNvPr id="3" name="Text 1"/>
          <p:cNvSpPr txBox="1"/>
          <p:nvPr/>
        </p:nvSpPr>
        <p:spPr>
          <a:xfrm>
            <a:off x="548640" y="1371600"/>
            <a:ext cx="11064240" cy="50292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An Agent has:</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 A narrow, well-defined role</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 Its own decision-making (via LLM reasoning)</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 A restricted set of tools/data it can access</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 A clear output contract — not free text</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Example: EligibilityIdentifierAgent</a:t>
            </a:r>
            <a:endParaRPr lang="en-US" sz="1700" dirty="0"/>
          </a:p>
          <a:p>
            <a:pPr indent="0" marL="0">
              <a:spcAft>
                <a:spcPts val="1000"/>
              </a:spcAft>
              <a:buNone/>
            </a:pPr>
            <a:r>
              <a:rPr lang="en-US" sz="1500" dirty="0">
                <a:solidFill>
                  <a:srgbClr val="14293D"/>
                </a:solidFill>
                <a:latin typeface="Consolas" pitchFamily="34" charset="0"/>
                <a:ea typeface="Consolas" pitchFamily="34" charset="-122"/>
                <a:cs typeface="Consolas" pitchFamily="34" charset="-120"/>
              </a:rPr>
              <a:t>Role: ONLY decide eligibility, nothing else</a:t>
            </a:r>
            <a:endParaRPr lang="en-US" sz="1700" dirty="0"/>
          </a:p>
          <a:p>
            <a:pPr indent="0" marL="0">
              <a:spcAft>
                <a:spcPts val="1000"/>
              </a:spcAft>
              <a:buNone/>
            </a:pPr>
            <a:r>
              <a:rPr lang="en-US" sz="1500" dirty="0">
                <a:solidFill>
                  <a:srgbClr val="14293D"/>
                </a:solidFill>
                <a:latin typeface="Consolas" pitchFamily="34" charset="0"/>
                <a:ea typeface="Consolas" pitchFamily="34" charset="-122"/>
                <a:cs typeface="Consolas" pitchFamily="34" charset="-120"/>
              </a:rPr>
              <a:t>Tools: Vector search + Gemini LLM</a:t>
            </a:r>
            <a:endParaRPr lang="en-US" sz="1700" dirty="0"/>
          </a:p>
          <a:p>
            <a:pPr indent="0" marL="0">
              <a:spcAft>
                <a:spcPts val="1000"/>
              </a:spcAft>
              <a:buNone/>
            </a:pPr>
            <a:r>
              <a:rPr lang="en-US" sz="1500" dirty="0">
                <a:solidFill>
                  <a:srgbClr val="14293D"/>
                </a:solidFill>
                <a:latin typeface="Consolas" pitchFamily="34" charset="0"/>
                <a:ea typeface="Consolas" pitchFamily="34" charset="-122"/>
                <a:cs typeface="Consolas" pitchFamily="34" charset="-120"/>
              </a:rPr>
              <a:t>Output: EligibilityResult { IsEligible, Reason, RequiresEscalation }</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2600" b="1" dirty="0">
                <a:solidFill>
                  <a:srgbClr val="14293D"/>
                </a:solidFill>
                <a:latin typeface="Calibri" pitchFamily="34" charset="0"/>
                <a:ea typeface="Calibri" pitchFamily="34" charset="-122"/>
                <a:cs typeface="Calibri" pitchFamily="34" charset="-120"/>
              </a:rPr>
              <a:t>Why Agents Talk in Structured Data, Not Free Text</a:t>
            </a:r>
            <a:endParaRPr lang="en-US" sz="2600" dirty="0"/>
          </a:p>
        </p:txBody>
      </p:sp>
      <p:sp>
        <p:nvSpPr>
          <p:cNvPr id="3" name="Text 1"/>
          <p:cNvSpPr txBox="1"/>
          <p:nvPr/>
        </p:nvSpPr>
        <p:spPr>
          <a:xfrm>
            <a:off x="548640" y="1371600"/>
            <a:ext cx="11064240" cy="50292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 Bad: Agent A returns "Yes I think they're eligible probably"</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 Agent B has to GUESS what this means</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 Good: Agent A returns:</a:t>
            </a:r>
            <a:endParaRPr lang="en-US" sz="1700" dirty="0"/>
          </a:p>
          <a:p>
            <a:pPr indent="0" marL="0">
              <a:spcAft>
                <a:spcPts val="1000"/>
              </a:spcAft>
              <a:buNone/>
            </a:pPr>
            <a:r>
              <a:rPr lang="en-US" sz="1500" dirty="0">
                <a:solidFill>
                  <a:srgbClr val="14293D"/>
                </a:solidFill>
                <a:latin typeface="Consolas" pitchFamily="34" charset="0"/>
                <a:ea typeface="Consolas" pitchFamily="34" charset="-122"/>
                <a:cs typeface="Consolas" pitchFamily="34" charset="-120"/>
              </a:rPr>
              <a:t>EligibilityResult(IsEligible: true, Reason: "...", RequiresEscalation: false)</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 Agent B reads .IsEligible directly — no ambiguity, no parsing risk</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2600" b="1" dirty="0">
                <a:solidFill>
                  <a:srgbClr val="14293D"/>
                </a:solidFill>
                <a:latin typeface="Calibri" pitchFamily="34" charset="0"/>
                <a:ea typeface="Calibri" pitchFamily="34" charset="-122"/>
                <a:cs typeface="Calibri" pitchFamily="34" charset="-120"/>
              </a:rPr>
              <a:t>Our 3 Specialized Agents (D4 Government Services)</a:t>
            </a:r>
            <a:endParaRPr lang="en-US" sz="2600" dirty="0"/>
          </a:p>
        </p:txBody>
      </p:sp>
      <p:sp>
        <p:nvSpPr>
          <p:cNvPr id="3" name="Text 1"/>
          <p:cNvSpPr txBox="1"/>
          <p:nvPr/>
        </p:nvSpPr>
        <p:spPr>
          <a:xfrm>
            <a:off x="548640" y="1371600"/>
            <a:ext cx="11064240" cy="50292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1. Eligibility Identifier</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Input: citizen situation → Output: eligible? why? escalate?</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2. Procedure Resolver</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Input: service type → Output: documents, timeline, fees</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3. Response Drafter</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Input: results of 1 &amp; 2 → Output: official citizen-facing text</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Each agent = its own class, its own prompt, its own contract</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2600" b="1" dirty="0">
                <a:solidFill>
                  <a:srgbClr val="14293D"/>
                </a:solidFill>
                <a:latin typeface="Calibri" pitchFamily="34" charset="0"/>
                <a:ea typeface="Calibri" pitchFamily="34" charset="-122"/>
                <a:cs typeface="Calibri" pitchFamily="34" charset="-120"/>
              </a:rPr>
              <a:t>Inside EligibilityIdentifierAgent (Real Code)</a:t>
            </a:r>
            <a:endParaRPr lang="en-US" sz="2600" dirty="0"/>
          </a:p>
        </p:txBody>
      </p:sp>
      <p:sp>
        <p:nvSpPr>
          <p:cNvPr id="3" name="Text 1"/>
          <p:cNvSpPr txBox="1"/>
          <p:nvPr/>
        </p:nvSpPr>
        <p:spPr>
          <a:xfrm>
            <a:off x="548640" y="1371600"/>
            <a:ext cx="11064240" cy="50292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1. Embed the citizen's situation → numbers</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2. Search vector store for relevant policy chunks</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3. Force the LLM into a strict format:</a:t>
            </a:r>
            <a:endParaRPr lang="en-US" sz="1700" dirty="0"/>
          </a:p>
          <a:p>
            <a:pPr indent="0" marL="0">
              <a:spcAft>
                <a:spcPts val="1000"/>
              </a:spcAft>
              <a:buNone/>
            </a:pPr>
            <a:r>
              <a:rPr lang="en-US" sz="1500" dirty="0">
                <a:solidFill>
                  <a:srgbClr val="14293D"/>
                </a:solidFill>
                <a:latin typeface="Consolas" pitchFamily="34" charset="0"/>
                <a:ea typeface="Consolas" pitchFamily="34" charset="-122"/>
                <a:cs typeface="Consolas" pitchFamily="34" charset="-120"/>
              </a:rPr>
              <a:t>DECISION: [ELIGIBLE/NOT_ELIGIBLE/ESCALATE]</a:t>
            </a:r>
            <a:endParaRPr lang="en-US" sz="1700" dirty="0"/>
          </a:p>
          <a:p>
            <a:pPr indent="0" marL="0">
              <a:spcAft>
                <a:spcPts val="1000"/>
              </a:spcAft>
              <a:buNone/>
            </a:pPr>
            <a:r>
              <a:rPr lang="en-US" sz="1500" dirty="0">
                <a:solidFill>
                  <a:srgbClr val="14293D"/>
                </a:solidFill>
                <a:latin typeface="Consolas" pitchFamily="34" charset="0"/>
                <a:ea typeface="Consolas" pitchFamily="34" charset="-122"/>
                <a:cs typeface="Consolas" pitchFamily="34" charset="-120"/>
              </a:rPr>
              <a:t>REASON: [one sentence]</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4. Parse the LLM's text response into EligibilityResult</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Same RAG pattern as a simple Q&amp;A bot — but with STRUCTURED output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2600" b="1" dirty="0">
                <a:solidFill>
                  <a:srgbClr val="14293D"/>
                </a:solidFill>
                <a:latin typeface="Calibri" pitchFamily="34" charset="0"/>
                <a:ea typeface="Calibri" pitchFamily="34" charset="-122"/>
                <a:cs typeface="Calibri" pitchFamily="34" charset="-120"/>
              </a:rPr>
              <a:t>The Orchestrator: A Simple Sequential Pipeline</a:t>
            </a:r>
            <a:endParaRPr lang="en-US" sz="2600" dirty="0"/>
          </a:p>
        </p:txBody>
      </p:sp>
      <p:sp>
        <p:nvSpPr>
          <p:cNvPr id="3" name="Text 1"/>
          <p:cNvSpPr txBox="1"/>
          <p:nvPr/>
        </p:nvSpPr>
        <p:spPr>
          <a:xfrm>
            <a:off x="548640" y="1371600"/>
            <a:ext cx="11064240" cy="5029200"/>
          </a:xfrm>
          <a:prstGeom prst="rect">
            <a:avLst/>
          </a:prstGeom>
          <a:noFill/>
          <a:ln/>
        </p:spPr>
        <p:txBody>
          <a:bodyPr wrap="square" lIns="0" tIns="0" rIns="0" bIns="0" rtlCol="0" anchor="t"/>
          <a:lstStyle/>
          <a:p>
            <a:pPr indent="0" marL="0">
              <a:spcAft>
                <a:spcPts val="1000"/>
              </a:spcAft>
              <a:buNone/>
            </a:pPr>
            <a:r>
              <a:rPr lang="en-US" sz="1500" dirty="0">
                <a:solidFill>
                  <a:srgbClr val="14293D"/>
                </a:solidFill>
                <a:latin typeface="Consolas" pitchFamily="34" charset="0"/>
                <a:ea typeface="Consolas" pitchFamily="34" charset="-122"/>
                <a:cs typeface="Consolas" pitchFamily="34" charset="-120"/>
              </a:rPr>
              <a:t>GovernmentServiceOrchestrator.ProcessAsync():</a:t>
            </a:r>
            <a:endParaRPr lang="en-US" sz="15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1. Call EligibilityAgent</a:t>
            </a:r>
            <a:endParaRPr lang="en-US" sz="15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 If RequiresEscalation: STOP, return null immediately</a:t>
            </a:r>
            <a:endParaRPr lang="en-US" sz="15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2. Call ProcedureAgent</a:t>
            </a:r>
            <a:endParaRPr lang="en-US" sz="15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3. Call ResponseDrafterAgent (combining results of 1 &amp; 2)</a:t>
            </a:r>
            <a:endParaRPr lang="en-US" sz="15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4. Return the final DraftedResponse</a:t>
            </a:r>
            <a:endParaRPr lang="en-US" sz="15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Agents don't know about each other. The Orchestrator is the only piece that knows the ORDER.</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2600" b="1" dirty="0">
                <a:solidFill>
                  <a:srgbClr val="14293D"/>
                </a:solidFill>
                <a:latin typeface="Calibri" pitchFamily="34" charset="0"/>
                <a:ea typeface="Calibri" pitchFamily="34" charset="-122"/>
                <a:cs typeface="Calibri" pitchFamily="34" charset="-120"/>
              </a:rPr>
              <a:t>Design Decision: Fixed Pipeline, Not Dynamic Routing (ADR-003)</a:t>
            </a:r>
            <a:endParaRPr lang="en-US" sz="2600" dirty="0"/>
          </a:p>
        </p:txBody>
      </p:sp>
      <p:sp>
        <p:nvSpPr>
          <p:cNvPr id="3" name="Text 1"/>
          <p:cNvSpPr txBox="1"/>
          <p:nvPr/>
        </p:nvSpPr>
        <p:spPr>
          <a:xfrm>
            <a:off x="548640" y="1371600"/>
            <a:ext cx="11064240" cy="50292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Considered: Supervisor pattern (an LLM decides which agent runs next)</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Rejected because: Our workflow is FIXED and KNOWN in advance</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(eligibility must always come before procedure/response)</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 Dynamic routing = extra LLM cost + non-determinism, no benefit</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Lesson: Match the pattern to the problem — don't over-engineer</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2600" b="1" dirty="0">
                <a:solidFill>
                  <a:srgbClr val="14293D"/>
                </a:solidFill>
                <a:latin typeface="Calibri" pitchFamily="34" charset="0"/>
                <a:ea typeface="Calibri" pitchFamily="34" charset="-122"/>
                <a:cs typeface="Calibri" pitchFamily="34" charset="-120"/>
              </a:rPr>
              <a:t>Human-in-the-Loop: The Non-Negotiable Safety Net</a:t>
            </a:r>
            <a:endParaRPr lang="en-US" sz="2600" dirty="0"/>
          </a:p>
        </p:txBody>
      </p:sp>
      <p:sp>
        <p:nvSpPr>
          <p:cNvPr id="3" name="Text 1"/>
          <p:cNvSpPr txBox="1"/>
          <p:nvPr/>
        </p:nvSpPr>
        <p:spPr>
          <a:xfrm>
            <a:off x="548640" y="1371600"/>
            <a:ext cx="11064240" cy="50292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No agent can EVER send a final response to a citizen directly.</a:t>
            </a:r>
            <a:endParaRPr lang="en-US" sz="1700" dirty="0"/>
          </a:p>
          <a:p>
            <a:pPr indent="0" marL="0">
              <a:spcAft>
                <a:spcPts val="1000"/>
              </a:spcAft>
              <a:buNone/>
            </a:pPr>
            <a:r>
              <a:rPr lang="en-US" sz="1500" dirty="0">
                <a:solidFill>
                  <a:srgbClr val="14293D"/>
                </a:solidFill>
                <a:latin typeface="Consolas" pitchFamily="34" charset="0"/>
                <a:ea typeface="Consolas" pitchFamily="34" charset="-122"/>
                <a:cs typeface="Consolas" pitchFamily="34" charset="-120"/>
              </a:rPr>
              <a:t>CitizenRequest.AttachDraftedResponse() ALWAYS sets:</a:t>
            </a:r>
            <a:endParaRPr lang="en-US" sz="1700" dirty="0"/>
          </a:p>
          <a:p>
            <a:pPr indent="0" marL="0">
              <a:spcAft>
                <a:spcPts val="1000"/>
              </a:spcAft>
              <a:buNone/>
            </a:pPr>
            <a:r>
              <a:rPr lang="en-US" sz="1500" dirty="0">
                <a:solidFill>
                  <a:srgbClr val="14293D"/>
                </a:solidFill>
                <a:latin typeface="Consolas" pitchFamily="34" charset="0"/>
                <a:ea typeface="Consolas" pitchFamily="34" charset="-122"/>
                <a:cs typeface="Consolas" pitchFamily="34" charset="-120"/>
              </a:rPr>
              <a:t>Status = AwaitingApproval  (never Approved)</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An Officer must explicitly call:</a:t>
            </a:r>
            <a:endParaRPr lang="en-US" sz="1700" dirty="0"/>
          </a:p>
          <a:p>
            <a:pPr indent="0" marL="0">
              <a:spcAft>
                <a:spcPts val="1000"/>
              </a:spcAft>
              <a:buNone/>
            </a:pPr>
            <a:r>
              <a:rPr lang="en-US" sz="1500" dirty="0">
                <a:solidFill>
                  <a:srgbClr val="14293D"/>
                </a:solidFill>
                <a:latin typeface="Consolas" pitchFamily="34" charset="0"/>
                <a:ea typeface="Consolas" pitchFamily="34" charset="-122"/>
                <a:cs typeface="Consolas" pitchFamily="34" charset="-120"/>
              </a:rPr>
              <a:t>POST /api/Approval/{id}/approve</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This is enforced in CODE, not by policy or convention.</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2600" b="1" dirty="0">
                <a:solidFill>
                  <a:srgbClr val="14293D"/>
                </a:solidFill>
                <a:latin typeface="Calibri" pitchFamily="34" charset="0"/>
                <a:ea typeface="Calibri" pitchFamily="34" charset="-122"/>
                <a:cs typeface="Calibri" pitchFamily="34" charset="-120"/>
              </a:rPr>
              <a:t>What the Officer Actually Sees Before Approving</a:t>
            </a:r>
            <a:endParaRPr lang="en-US" sz="2600" dirty="0"/>
          </a:p>
        </p:txBody>
      </p:sp>
      <p:sp>
        <p:nvSpPr>
          <p:cNvPr id="3" name="Text 1"/>
          <p:cNvSpPr txBox="1"/>
          <p:nvPr/>
        </p:nvSpPr>
        <p:spPr>
          <a:xfrm>
            <a:off x="548640" y="1371600"/>
            <a:ext cx="11064240" cy="5029200"/>
          </a:xfrm>
          <a:prstGeom prst="rect">
            <a:avLst/>
          </a:prstGeom>
          <a:noFill/>
          <a:ln/>
        </p:spPr>
        <p:txBody>
          <a:bodyPr wrap="square" lIns="0" tIns="0" rIns="0" bIns="0" rtlCol="0" anchor="t"/>
          <a:lstStyle/>
          <a:p>
            <a:pPr indent="0" marL="0">
              <a:spcAft>
                <a:spcPts val="1000"/>
              </a:spcAft>
              <a:buNone/>
            </a:pPr>
            <a:r>
              <a:rPr lang="en-US" sz="1500" dirty="0">
                <a:solidFill>
                  <a:srgbClr val="14293D"/>
                </a:solidFill>
                <a:latin typeface="Consolas" pitchFamily="34" charset="0"/>
                <a:ea typeface="Consolas" pitchFamily="34" charset="-122"/>
                <a:cs typeface="Consolas" pitchFamily="34" charset="-120"/>
              </a:rPr>
              <a:t>GET /api/Approval/pending returns:</a:t>
            </a:r>
            <a:endParaRPr lang="en-US" sz="1500" dirty="0"/>
          </a:p>
          <a:p>
            <a:pPr indent="0" marL="0">
              <a:spcAft>
                <a:spcPts val="1000"/>
              </a:spcAft>
              <a:buNone/>
            </a:pPr>
            <a:r>
              <a:rPr lang="en-US" sz="1500" dirty="0">
                <a:solidFill>
                  <a:srgbClr val="14293D"/>
                </a:solidFill>
                <a:latin typeface="Consolas" pitchFamily="34" charset="0"/>
                <a:ea typeface="Consolas" pitchFamily="34" charset="-122"/>
                <a:cs typeface="Consolas" pitchFamily="34" charset="-120"/>
              </a:rPr>
              <a:t>{</a:t>
            </a:r>
            <a:endParaRPr lang="en-US" sz="1500" dirty="0"/>
          </a:p>
          <a:p>
            <a:pPr indent="0" marL="0">
              <a:spcAft>
                <a:spcPts val="1000"/>
              </a:spcAft>
              <a:buNone/>
            </a:pPr>
            <a:r>
              <a:rPr lang="en-US" sz="1500" dirty="0">
                <a:solidFill>
                  <a:srgbClr val="14293D"/>
                </a:solidFill>
                <a:latin typeface="Consolas" pitchFamily="34" charset="0"/>
                <a:ea typeface="Consolas" pitchFamily="34" charset="-122"/>
                <a:cs typeface="Consolas" pitchFamily="34" charset="-120"/>
              </a:rPr>
              <a:t>  "citizenName": "أحمد محمد",</a:t>
            </a:r>
            <a:endParaRPr lang="en-US" sz="1500" dirty="0"/>
          </a:p>
          <a:p>
            <a:pPr indent="0" marL="0">
              <a:spcAft>
                <a:spcPts val="1000"/>
              </a:spcAft>
              <a:buNone/>
            </a:pPr>
            <a:r>
              <a:rPr lang="en-US" sz="1500" dirty="0">
                <a:solidFill>
                  <a:srgbClr val="14293D"/>
                </a:solidFill>
                <a:latin typeface="Consolas" pitchFamily="34" charset="0"/>
                <a:ea typeface="Consolas" pitchFamily="34" charset="-122"/>
                <a:cs typeface="Consolas" pitchFamily="34" charset="-120"/>
              </a:rPr>
              <a:t>  "status": "AwaitingApproval",</a:t>
            </a:r>
            <a:endParaRPr lang="en-US" sz="1500" dirty="0"/>
          </a:p>
          <a:p>
            <a:pPr indent="0" marL="0">
              <a:spcAft>
                <a:spcPts val="1000"/>
              </a:spcAft>
              <a:buNone/>
            </a:pPr>
            <a:r>
              <a:rPr lang="en-US" sz="1500" dirty="0">
                <a:solidFill>
                  <a:srgbClr val="14293D"/>
                </a:solidFill>
                <a:latin typeface="Consolas" pitchFamily="34" charset="0"/>
                <a:ea typeface="Consolas" pitchFamily="34" charset="-122"/>
                <a:cs typeface="Consolas" pitchFamily="34" charset="-120"/>
              </a:rPr>
              <a:t>  "draftedResponseText": "...",</a:t>
            </a:r>
            <a:endParaRPr lang="en-US" sz="1500" dirty="0"/>
          </a:p>
          <a:p>
            <a:pPr indent="0" marL="0">
              <a:spcAft>
                <a:spcPts val="1000"/>
              </a:spcAft>
              <a:buNone/>
            </a:pPr>
            <a:r>
              <a:rPr lang="en-US" sz="1500" dirty="0">
                <a:solidFill>
                  <a:srgbClr val="14293D"/>
                </a:solidFill>
                <a:latin typeface="Consolas" pitchFamily="34" charset="0"/>
                <a:ea typeface="Consolas" pitchFamily="34" charset="-122"/>
                <a:cs typeface="Consolas" pitchFamily="34" charset="-120"/>
              </a:rPr>
              <a:t>  "eligibilityReason": "...",      ← WHY the AI decided this</a:t>
            </a:r>
            <a:endParaRPr lang="en-US" sz="1500" dirty="0"/>
          </a:p>
          <a:p>
            <a:pPr indent="0" marL="0">
              <a:spcAft>
                <a:spcPts val="1000"/>
              </a:spcAft>
              <a:buNone/>
            </a:pPr>
            <a:r>
              <a:rPr lang="en-US" sz="1500" dirty="0">
                <a:solidFill>
                  <a:srgbClr val="14293D"/>
                </a:solidFill>
                <a:latin typeface="Consolas" pitchFamily="34" charset="0"/>
                <a:ea typeface="Consolas" pitchFamily="34" charset="-122"/>
                <a:cs typeface="Consolas" pitchFamily="34" charset="-120"/>
              </a:rPr>
              <a:t>  "requiredDocumentsSummary": "..." ← WHAT the citizen must submit</a:t>
            </a:r>
            <a:endParaRPr lang="en-US" sz="1500" dirty="0"/>
          </a:p>
          <a:p>
            <a:pPr indent="0" marL="0">
              <a:spcAft>
                <a:spcPts val="1000"/>
              </a:spcAft>
              <a:buNone/>
            </a:pPr>
            <a:r>
              <a:rPr lang="en-US" sz="1500" dirty="0">
                <a:solidFill>
                  <a:srgbClr val="14293D"/>
                </a:solidFill>
                <a:latin typeface="Consolas" pitchFamily="34" charset="0"/>
                <a:ea typeface="Consolas" pitchFamily="34" charset="-122"/>
                <a:cs typeface="Consolas" pitchFamily="34" charset="-120"/>
              </a:rPr>
              <a:t>}</a:t>
            </a:r>
            <a:endParaRPr lang="en-US" sz="15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The officer sees the REASONING, not just the final text.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2600" b="1" dirty="0">
                <a:solidFill>
                  <a:srgbClr val="14293D"/>
                </a:solidFill>
                <a:latin typeface="Calibri" pitchFamily="34" charset="0"/>
                <a:ea typeface="Calibri" pitchFamily="34" charset="-122"/>
                <a:cs typeface="Calibri" pitchFamily="34" charset="-120"/>
              </a:rPr>
              <a:t>Connecting to Security: OWASP LLM Top 10 — Excessive Agency</a:t>
            </a:r>
            <a:endParaRPr lang="en-US" sz="2600" dirty="0"/>
          </a:p>
        </p:txBody>
      </p:sp>
      <p:sp>
        <p:nvSpPr>
          <p:cNvPr id="3" name="Text 1"/>
          <p:cNvSpPr txBox="1"/>
          <p:nvPr/>
        </p:nvSpPr>
        <p:spPr>
          <a:xfrm>
            <a:off x="548640" y="1371600"/>
            <a:ext cx="11064240" cy="50292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Excessive Agency = an AI system given more power than it should have</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Our mitigation:</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No agent has direct database write access to "finalize" anything</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No agent can call an external system (email, SMS) on its own</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The ONLY path to "Approved" status passes through a human click</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This is a security control, not just a workflow step.</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2600" b="1" dirty="0">
                <a:solidFill>
                  <a:srgbClr val="14293D"/>
                </a:solidFill>
                <a:latin typeface="Calibri" pitchFamily="34" charset="0"/>
                <a:ea typeface="Calibri" pitchFamily="34" charset="-122"/>
                <a:cs typeface="Calibri" pitchFamily="34" charset="-120"/>
              </a:rPr>
              <a:t>Every Agent Call Is Automatically Tenant-Scoped (T0)</a:t>
            </a:r>
            <a:endParaRPr lang="en-US" sz="2600" dirty="0"/>
          </a:p>
        </p:txBody>
      </p:sp>
      <p:sp>
        <p:nvSpPr>
          <p:cNvPr id="3" name="Text 1"/>
          <p:cNvSpPr txBox="1"/>
          <p:nvPr/>
        </p:nvSpPr>
        <p:spPr>
          <a:xfrm>
            <a:off x="548640" y="1371600"/>
            <a:ext cx="11064240" cy="5029200"/>
          </a:xfrm>
          <a:prstGeom prst="rect">
            <a:avLst/>
          </a:prstGeom>
          <a:noFill/>
          <a:ln/>
        </p:spPr>
        <p:txBody>
          <a:bodyPr wrap="square" lIns="0" tIns="0" rIns="0" bIns="0" rtlCol="0" anchor="t"/>
          <a:lstStyle/>
          <a:p>
            <a:pPr indent="0" marL="0">
              <a:spcAft>
                <a:spcPts val="1000"/>
              </a:spcAft>
              <a:buNone/>
            </a:pPr>
            <a:r>
              <a:rPr lang="en-US" sz="1500" dirty="0">
                <a:solidFill>
                  <a:srgbClr val="14293D"/>
                </a:solidFill>
                <a:latin typeface="Consolas" pitchFamily="34" charset="0"/>
                <a:ea typeface="Consolas" pitchFamily="34" charset="-122"/>
                <a:cs typeface="Consolas" pitchFamily="34" charset="-120"/>
              </a:rPr>
              <a:t>EligibilityIdentifierAgent.AnalyzeAsync(situation, tenantId)</a:t>
            </a:r>
            <a:endParaRPr lang="en-US" sz="1500" dirty="0"/>
          </a:p>
          <a:p>
            <a:pPr indent="0" marL="0">
              <a:spcAft>
                <a:spcPts val="1000"/>
              </a:spcAft>
              <a:buNone/>
            </a:pPr>
            <a:r>
              <a:rPr lang="en-US" sz="1500" dirty="0">
                <a:solidFill>
                  <a:srgbClr val="14293D"/>
                </a:solidFill>
                <a:latin typeface="Consolas" pitchFamily="34" charset="0"/>
                <a:ea typeface="Consolas" pitchFamily="34" charset="-122"/>
                <a:cs typeface="Consolas" pitchFamily="34" charset="-120"/>
              </a:rPr>
              <a:t>ProcedureResolverAgent.ResolveAsync(serviceType, tenantId)</a:t>
            </a:r>
            <a:endParaRPr lang="en-US" sz="15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Every RAG search inside these agents is filtered by tenantId</a:t>
            </a:r>
            <a:endParaRPr lang="en-US" sz="15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 Agency A's policies can NEVER leak into Agency B's answers</a:t>
            </a:r>
            <a:endParaRPr lang="en-US" sz="15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Enforced at the DATABASE level (EF Core Global Query Filters),</a:t>
            </a:r>
            <a:endParaRPr lang="en-US" sz="15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not just passed as a parameter and hoped for the best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2600" b="1" dirty="0">
                <a:solidFill>
                  <a:srgbClr val="14293D"/>
                </a:solidFill>
                <a:latin typeface="Calibri" pitchFamily="34" charset="0"/>
                <a:ea typeface="Calibri" pitchFamily="34" charset="-122"/>
                <a:cs typeface="Calibri" pitchFamily="34" charset="-120"/>
              </a:rPr>
              <a:t>An Honest Engineering Lesson: Building on a $0 Budget</a:t>
            </a:r>
            <a:endParaRPr lang="en-US" sz="2600" dirty="0"/>
          </a:p>
        </p:txBody>
      </p:sp>
      <p:sp>
        <p:nvSpPr>
          <p:cNvPr id="3" name="Text 1"/>
          <p:cNvSpPr txBox="1"/>
          <p:nvPr/>
        </p:nvSpPr>
        <p:spPr>
          <a:xfrm>
            <a:off x="548640" y="1371600"/>
            <a:ext cx="11064240" cy="50292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Google Gemini's free tier: ~20 requests per rolling window</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Our Evaluation Harness needs ~50 calls (25 questions × 2 calls each)</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 Consistently hit 429 "Too Many Requests" errors</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Our fix: Exponential backoff retry (5s → 10s → 20s → 40s → 80s)</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This ALSO satisfies FR-5's "retry with backoff" requirement</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Lesson: Real constraints force real engineering decisions</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2600" b="1" dirty="0">
                <a:solidFill>
                  <a:srgbClr val="14293D"/>
                </a:solidFill>
                <a:latin typeface="Calibri" pitchFamily="34" charset="0"/>
                <a:ea typeface="Calibri" pitchFamily="34" charset="-122"/>
                <a:cs typeface="Calibri" pitchFamily="34" charset="-120"/>
              </a:rPr>
              <a:t>4 Key Architectural Decisions (Documented as ADRs)</a:t>
            </a:r>
            <a:endParaRPr lang="en-US" sz="2600" dirty="0"/>
          </a:p>
        </p:txBody>
      </p:sp>
      <p:sp>
        <p:nvSpPr>
          <p:cNvPr id="3" name="Text 1"/>
          <p:cNvSpPr txBox="1"/>
          <p:nvPr/>
        </p:nvSpPr>
        <p:spPr>
          <a:xfrm>
            <a:off x="548640" y="1371600"/>
            <a:ext cx="11064240" cy="50292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ADR-001: Fixed 500-char chunking</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 Simple, fast; section-based chunking is the documented next step</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ADR-002: SQL Server as Vector Store (not Qdrant)</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 Zero extra infra; isolated behind IVectorStore for easy swap later</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ADR-003: Sequential pipeline orchestration (not Supervisor pattern)</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 Matches our FIXED, KNOWN workflow — no unnecessary complexity</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ADR-004: EF Core Global Query Filters for tenant isolation</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 Enforced structurally, not by developer discipline</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2600" b="1" dirty="0">
                <a:solidFill>
                  <a:srgbClr val="14293D"/>
                </a:solidFill>
                <a:latin typeface="Calibri" pitchFamily="34" charset="0"/>
                <a:ea typeface="Calibri" pitchFamily="34" charset="-122"/>
                <a:cs typeface="Calibri" pitchFamily="34" charset="-120"/>
              </a:rPr>
              <a:t>What This Project Teaches Beyond the Code</a:t>
            </a:r>
            <a:endParaRPr lang="en-US" sz="2600" dirty="0"/>
          </a:p>
        </p:txBody>
      </p:sp>
      <p:sp>
        <p:nvSpPr>
          <p:cNvPr id="3" name="Text 1"/>
          <p:cNvSpPr txBox="1"/>
          <p:nvPr/>
        </p:nvSpPr>
        <p:spPr>
          <a:xfrm>
            <a:off x="548640" y="1371600"/>
            <a:ext cx="11064240" cy="50292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1. Structure beats cleverness</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Typed contracts + narrow agent roles &gt; one giant smart prompt</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2. Human oversight is a design decision, not an afterthought</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Build the approval gate INTO the data model from day one</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3. Constraints reveal good engineering</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Rate limits forced us to implement retry logic we needed anyway</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4. Document decisions as you make them</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ADRs written during development &gt; reconstructed after the fact</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2600" b="1" dirty="0">
                <a:solidFill>
                  <a:srgbClr val="14293D"/>
                </a:solidFill>
                <a:latin typeface="Calibri" pitchFamily="34" charset="0"/>
                <a:ea typeface="Calibri" pitchFamily="34" charset="-122"/>
                <a:cs typeface="Calibri" pitchFamily="34" charset="-120"/>
              </a:rPr>
              <a:t>Hands-On Lab: Extend the Agent Team</a:t>
            </a:r>
            <a:endParaRPr lang="en-US" sz="2600" dirty="0"/>
          </a:p>
        </p:txBody>
      </p:sp>
      <p:sp>
        <p:nvSpPr>
          <p:cNvPr id="3" name="Text 1"/>
          <p:cNvSpPr txBox="1"/>
          <p:nvPr/>
        </p:nvSpPr>
        <p:spPr>
          <a:xfrm>
            <a:off x="548640" y="1371600"/>
            <a:ext cx="11064240" cy="50292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Your task: Add a 4th agent — "AppealsAdvisorAgent"</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Given: A rejected CitizenRequest</a:t>
            </a:r>
            <a:endParaRPr lang="en-US" sz="1700" dirty="0"/>
          </a:p>
          <a:p>
            <a:pPr indent="0" marL="0">
              <a:spcAft>
                <a:spcPts val="1000"/>
              </a:spcAft>
              <a:buNone/>
            </a:pPr>
            <a:r>
              <a:rPr lang="en-US" sz="1500" dirty="0">
                <a:solidFill>
                  <a:srgbClr val="14293D"/>
                </a:solidFill>
                <a:latin typeface="Consolas" pitchFamily="34" charset="0"/>
                <a:ea typeface="Consolas" pitchFamily="34" charset="-122"/>
                <a:cs typeface="Consolas" pitchFamily="34" charset="-120"/>
              </a:rPr>
              <a:t>Return: AppealsAdvice { CanAppeal: bool, Deadline: string, Instructions: string }</a:t>
            </a:r>
            <a:endParaRPr lang="en-US" sz="1700" dirty="0"/>
          </a:p>
          <a:p>
            <a:pPr marL="342900" indent="-342900">
              <a:spcAft>
                <a:spcPts val="1000"/>
              </a:spcAft>
              <a:buSzPct val="100000"/>
              <a:buChar char="•"/>
            </a:pPr>
            <a:r>
              <a:rPr lang="en-US" sz="1700" dirty="0">
                <a:solidFill>
                  <a:srgbClr val="14293D"/>
                </a:solidFill>
                <a:latin typeface="Calibri" pitchFamily="34" charset="0"/>
                <a:ea typeface="Calibri" pitchFamily="34" charset="-122"/>
                <a:cs typeface="Calibri" pitchFamily="34" charset="-120"/>
              </a:rPr>
              <a:t>Steps:</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1. Define the typed contract (record)</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2. Define the interface</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3. Implement using the SAME RAG pattern as EligibilityIdentifierAgent</a:t>
            </a:r>
            <a:endParaRPr lang="en-US" sz="1700" dirty="0"/>
          </a:p>
          <a:p>
            <a:pPr marL="254000" indent="-254000">
              <a:spcAft>
                <a:spcPts val="1000"/>
              </a:spcAft>
              <a:buSzPct val="100000"/>
              <a:buChar char="•"/>
            </a:pPr>
            <a:r>
              <a:rPr lang="en-US" sz="1500" dirty="0">
                <a:solidFill>
                  <a:srgbClr val="6B7480"/>
                </a:solidFill>
                <a:latin typeface="Calibri" pitchFamily="34" charset="0"/>
                <a:ea typeface="Calibri" pitchFamily="34" charset="-122"/>
                <a:cs typeface="Calibri" pitchFamily="34" charset="-120"/>
              </a:rPr>
              <a:t>  4. Wire it into the Orchestrator (called only if status == Rejected)</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93D"/>
        </a:solidFill>
      </p:bgPr>
    </p:bg>
    <p:spTree>
      <p:nvGrpSpPr>
        <p:cNvPr id="1" name=""/>
        <p:cNvGrpSpPr/>
        <p:nvPr/>
      </p:nvGrpSpPr>
      <p:grpSpPr>
        <a:xfrm>
          <a:off x="0" y="0"/>
          <a:ext cx="0" cy="0"/>
          <a:chOff x="0" y="0"/>
          <a:chExt cx="0" cy="0"/>
        </a:xfrm>
      </p:grpSpPr>
      <p:sp>
        <p:nvSpPr>
          <p:cNvPr id="2" name="Text 0"/>
          <p:cNvSpPr txBox="1"/>
          <p:nvPr/>
        </p:nvSpPr>
        <p:spPr>
          <a:xfrm>
            <a:off x="731520" y="822960"/>
            <a:ext cx="10698480" cy="640080"/>
          </a:xfrm>
          <a:prstGeom prst="rect">
            <a:avLst/>
          </a:prstGeom>
          <a:noFill/>
          <a:ln/>
        </p:spPr>
        <p:txBody>
          <a:bodyPr wrap="square" lIns="0" tIns="0" rIns="0" bIns="0" rtlCol="0" anchor="ctr"/>
          <a:lstStyle/>
          <a:p>
            <a:pPr indent="0" marL="0">
              <a:buNone/>
            </a:pPr>
            <a:r>
              <a:rPr lang="en-US" sz="2200" b="1" dirty="0">
                <a:solidFill>
                  <a:srgbClr val="E4EFE8"/>
                </a:solidFill>
                <a:latin typeface="Calibri" pitchFamily="34" charset="0"/>
                <a:ea typeface="Calibri" pitchFamily="34" charset="-122"/>
                <a:cs typeface="Calibri" pitchFamily="34" charset="-120"/>
              </a:rPr>
              <a:t>Key Takeaway</a:t>
            </a:r>
            <a:endParaRPr lang="en-US" sz="2200" dirty="0"/>
          </a:p>
        </p:txBody>
      </p:sp>
      <p:sp>
        <p:nvSpPr>
          <p:cNvPr id="3" name="Text 1"/>
          <p:cNvSpPr txBox="1"/>
          <p:nvPr/>
        </p:nvSpPr>
        <p:spPr>
          <a:xfrm>
            <a:off x="731520" y="2011680"/>
            <a:ext cx="10698480" cy="2377440"/>
          </a:xfrm>
          <a:prstGeom prst="rect">
            <a:avLst/>
          </a:prstGeom>
          <a:noFill/>
          <a:ln/>
        </p:spPr>
        <p:txBody>
          <a:bodyPr wrap="square" lIns="0" tIns="0" rIns="0" bIns="0" rtlCol="0" anchor="t"/>
          <a:lstStyle/>
          <a:p>
            <a:pPr indent="0" marL="0">
              <a:buNone/>
            </a:pPr>
            <a:r>
              <a:rPr lang="en-US" sz="2600" i="1" dirty="0">
                <a:solidFill>
                  <a:srgbClr val="FFFFFF"/>
                </a:solidFill>
                <a:latin typeface="Calibri" pitchFamily="34" charset="0"/>
                <a:ea typeface="Calibri" pitchFamily="34" charset="-122"/>
                <a:cs typeface="Calibri" pitchFamily="34" charset="-120"/>
              </a:rPr>
              <a:t>“Multi-agent systems aren’t about making AI more powerful.</a:t>
            </a:r>
            <a:endParaRPr lang="en-US" sz="2600" dirty="0"/>
          </a:p>
          <a:p>
            <a:pPr indent="0" marL="0">
              <a:buNone/>
            </a:pPr>
            <a:r>
              <a:rPr lang="en-US" sz="2600" i="1" dirty="0">
                <a:solidFill>
                  <a:srgbClr val="FFFFFF"/>
                </a:solidFill>
                <a:latin typeface="Calibri" pitchFamily="34" charset="0"/>
                <a:ea typeface="Calibri" pitchFamily="34" charset="-122"/>
                <a:cs typeface="Calibri" pitchFamily="34" charset="-120"/>
              </a:rPr>
              <a:t>They’re about making AI more ACCOUNTABLE —</a:t>
            </a:r>
            <a:endParaRPr lang="en-US" sz="2600" dirty="0"/>
          </a:p>
          <a:p>
            <a:pPr indent="0" marL="0">
              <a:buNone/>
            </a:pPr>
            <a:r>
              <a:rPr lang="en-US" sz="2600" i="1" dirty="0">
                <a:solidFill>
                  <a:srgbClr val="FFFFFF"/>
                </a:solidFill>
                <a:latin typeface="Calibri" pitchFamily="34" charset="0"/>
                <a:ea typeface="Calibri" pitchFamily="34" charset="-122"/>
                <a:cs typeface="Calibri" pitchFamily="34" charset="-120"/>
              </a:rPr>
              <a:t>each piece has a clear job, a clear contract, and a clear boundary.”</a:t>
            </a:r>
            <a:endParaRPr lang="en-US" sz="2600" dirty="0"/>
          </a:p>
        </p:txBody>
      </p:sp>
      <p:sp>
        <p:nvSpPr>
          <p:cNvPr id="4" name="Text 2"/>
          <p:cNvSpPr txBox="1"/>
          <p:nvPr/>
        </p:nvSpPr>
        <p:spPr>
          <a:xfrm>
            <a:off x="731520" y="4937760"/>
            <a:ext cx="10698480" cy="548640"/>
          </a:xfrm>
          <a:prstGeom prst="rect">
            <a:avLst/>
          </a:prstGeom>
          <a:noFill/>
          <a:ln/>
        </p:spPr>
        <p:txBody>
          <a:bodyPr wrap="square" lIns="0" tIns="0" rIns="0" bIns="0" rtlCol="0" anchor="ctr"/>
          <a:lstStyle/>
          <a:p>
            <a:pPr indent="0" marL="0">
              <a:buNone/>
            </a:pPr>
            <a:r>
              <a:rPr lang="en-US" sz="2000" b="1" dirty="0">
                <a:solidFill>
                  <a:srgbClr val="C97A2B"/>
                </a:solidFill>
                <a:latin typeface="Calibri" pitchFamily="34" charset="0"/>
                <a:ea typeface="Calibri" pitchFamily="34" charset="-122"/>
                <a:cs typeface="Calibri" pitchFamily="34" charset="-120"/>
              </a:rPr>
              <a:t>Questions?</a:t>
            </a:r>
            <a:endParaRPr lang="en-US" sz="2000" dirty="0"/>
          </a:p>
        </p:txBody>
      </p:sp>
      <p:sp>
        <p:nvSpPr>
          <p:cNvPr id="5" name="Text 3"/>
          <p:cNvSpPr txBox="1"/>
          <p:nvPr/>
        </p:nvSpPr>
        <p:spPr>
          <a:xfrm>
            <a:off x="731520" y="6035040"/>
            <a:ext cx="10698480" cy="457200"/>
          </a:xfrm>
          <a:prstGeom prst="rect">
            <a:avLst/>
          </a:prstGeom>
          <a:noFill/>
          <a:ln/>
        </p:spPr>
        <p:txBody>
          <a:bodyPr wrap="square" lIns="0" tIns="0" rIns="0" bIns="0" rtlCol="0" anchor="ctr"/>
          <a:lstStyle/>
          <a:p>
            <a:pPr indent="0" marL="0">
              <a:buNone/>
            </a:pPr>
            <a:r>
              <a:rPr lang="en-US" sz="1300" dirty="0">
                <a:solidFill>
                  <a:srgbClr val="B9C0CA"/>
                </a:solidFill>
                <a:latin typeface="Calibri" pitchFamily="34" charset="0"/>
                <a:ea typeface="Calibri" pitchFamily="34" charset="-122"/>
                <a:cs typeface="Calibri" pitchFamily="34" charset="-120"/>
              </a:rPr>
              <a:t>Repository: github.com/SaedaAli72/DomainCopilot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2026-09-09T08:15:16Z</dcterms:created>
  <dcterms:modified xsi:type="dcterms:W3CDTF">2026-09-09T08:15:16Z</dcterms:modified>
</cp:coreProperties>
</file>